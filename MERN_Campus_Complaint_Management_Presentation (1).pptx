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640080"/>
            <a:ext cx="2011680" cy="2011680"/>
          </a:xfrm>
          <a:prstGeom prst="ellipse">
            <a:avLst/>
          </a:prstGeom>
          <a:solidFill>
            <a:srgbClr val="2A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3200400"/>
            <a:ext cx="1280160" cy="1280160"/>
          </a:xfrm>
          <a:prstGeom prst="ellipse">
            <a:avLst/>
          </a:prstGeom>
          <a:solidFill>
            <a:srgbClr val="18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4389120"/>
            <a:ext cx="685800" cy="685800"/>
          </a:xfrm>
          <a:prstGeom prst="ellipse">
            <a:avLst/>
          </a:prstGeom>
          <a:solidFill>
            <a:srgbClr val="F59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029200" cy="4114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600" b="1">
                <a:solidFill>
                  <a:srgbClr val="18AAA0"/>
                </a:solidFill>
                <a:latin typeface="Aptos"/>
              </a:defRPr>
            </a:pPr>
            <a:r>
              <a:t>CAMPUS CONNECT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8046720" cy="15087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Campus Complaint</a:t>
            </a:r>
            <a:br/>
            <a:r>
              <a:t>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46120"/>
            <a:ext cx="6949440" cy="8229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2000" b="0">
                <a:solidFill>
                  <a:srgbClr val="D3DFF0"/>
                </a:solidFill>
                <a:latin typeface="Aptos"/>
              </a:defRPr>
            </a:pPr>
            <a:r>
              <a:t>A MERN-based platform to submit, manage, and track campus complaints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754880"/>
            <a:ext cx="2788920" cy="502920"/>
          </a:xfrm>
          <a:prstGeom prst="roundRect">
            <a:avLst/>
          </a:prstGeom>
          <a:solidFill>
            <a:srgbClr val="2A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73752"/>
            <a:ext cx="2514600" cy="20116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685800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500" b="0">
                <a:solidFill>
                  <a:srgbClr val="BECFE6"/>
                </a:solidFill>
                <a:latin typeface="Aptos"/>
              </a:defRPr>
            </a:pPr>
            <a:r>
              <a:t>MongoDB  •  Express.js  •  React  •  Node.js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172200"/>
            <a:ext cx="45720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defRPr sz="1200" b="1">
                <a:solidFill>
                  <a:srgbClr val="BECFE6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2700" b="1">
                <a:solidFill>
                  <a:srgbClr val="132240"/>
                </a:solidFill>
                <a:latin typeface="Aptos"/>
              </a:defRPr>
            </a:pPr>
            <a:r>
              <a:t>Problem Statement &amp; Proposed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777240" cy="54864"/>
          </a:xfrm>
          <a:prstGeom prst="rect">
            <a:avLst/>
          </a:prstGeom>
          <a:solidFill>
            <a:srgbClr val="18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502920" cy="3657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defRPr sz="1300" b="1">
                <a:solidFill>
                  <a:srgbClr val="63718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2578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82296" cy="4251960"/>
          </a:xfrm>
          <a:prstGeom prst="rect">
            <a:avLst/>
          </a:prstGeom>
          <a:solidFill>
            <a:srgbClr val="F59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90472"/>
            <a:ext cx="489204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32240"/>
                </a:solidFill>
                <a:latin typeface="Aptos"/>
              </a:defRPr>
            </a:pPr>
            <a:r>
              <a:t>Current 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47672"/>
            <a:ext cx="4892040" cy="35204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700" b="0">
                <a:solidFill>
                  <a:srgbClr val="637185"/>
                </a:solidFill>
                <a:latin typeface="Aptos"/>
              </a:defRPr>
            </a:pPr>
            <a:r>
              <a:t>• Complaints are often shared verbally or on paper</a:t>
            </a:r>
            <a:br/>
            <a:br/>
            <a:r>
              <a:t>• Students cannot easily check progress</a:t>
            </a:r>
            <a:br/>
            <a:br/>
            <a:r>
              <a:t>• Requests may be delayed or lost</a:t>
            </a:r>
            <a:br/>
            <a:br/>
            <a:r>
              <a:t>• Staff lack a single place to prioritize issues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2578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82296" cy="4251960"/>
          </a:xfrm>
          <a:prstGeom prst="rect">
            <a:avLst/>
          </a:prstGeom>
          <a:solidFill>
            <a:srgbClr val="18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490472"/>
            <a:ext cx="489204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32240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1947672"/>
            <a:ext cx="4892040" cy="35204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700" b="0">
                <a:solidFill>
                  <a:srgbClr val="637185"/>
                </a:solidFill>
                <a:latin typeface="Aptos"/>
              </a:defRPr>
            </a:pPr>
            <a:r>
              <a:t>• One online portal for all campus complaints</a:t>
            </a:r>
            <a:br/>
            <a:br/>
            <a:r>
              <a:t>• Unique complaint ID for tracking</a:t>
            </a:r>
            <a:br/>
            <a:br/>
            <a:r>
              <a:t>• Clear status updates and staff assignment</a:t>
            </a:r>
            <a:br/>
            <a:br/>
            <a:r>
              <a:t>• Central dashboard for faster resolution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60"/>
            <a:ext cx="10424160" cy="3657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800" b="1">
                <a:solidFill>
                  <a:srgbClr val="132240"/>
                </a:solidFill>
                <a:latin typeface="Aptos"/>
              </a:defRPr>
            </a:pPr>
            <a:r>
              <a:t>Goal: make campus issue reporting transparent, organized, and accountable.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2700" b="1">
                <a:solidFill>
                  <a:srgbClr val="132240"/>
                </a:solidFill>
                <a:latin typeface="Aptos"/>
              </a:defRPr>
            </a:pPr>
            <a:r>
              <a:t>Objectives &amp; User Roles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777240" cy="54864"/>
          </a:xfrm>
          <a:prstGeom prst="rect">
            <a:avLst/>
          </a:prstGeom>
          <a:solidFill>
            <a:srgbClr val="18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502920" cy="3657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defRPr sz="1300" b="1">
                <a:solidFill>
                  <a:srgbClr val="63718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82296" cy="1828800"/>
          </a:xfrm>
          <a:prstGeom prst="rect">
            <a:avLst/>
          </a:prstGeom>
          <a:solidFill>
            <a:srgbClr val="2A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36192"/>
            <a:ext cx="315468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32240"/>
                </a:solidFill>
                <a:latin typeface="Aptos"/>
              </a:defRPr>
            </a:pPr>
            <a:r>
              <a:t>Students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93392"/>
            <a:ext cx="3154680" cy="10972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500" b="0">
                <a:solidFill>
                  <a:srgbClr val="637185"/>
                </a:solidFill>
                <a:latin typeface="Aptos"/>
              </a:defRPr>
            </a:pPr>
            <a:r>
              <a:t>Submit a complaint, add details, and follow its progress.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82296" cy="1828800"/>
          </a:xfrm>
          <a:prstGeom prst="rect">
            <a:avLst/>
          </a:prstGeom>
          <a:solidFill>
            <a:srgbClr val="18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536192"/>
            <a:ext cx="315468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32240"/>
                </a:solidFill>
                <a:latin typeface="Aptos"/>
              </a:defRPr>
            </a:pPr>
            <a:r>
              <a:t>Campus Staff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993392"/>
            <a:ext cx="3154680" cy="10972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500" b="0">
                <a:solidFill>
                  <a:srgbClr val="637185"/>
                </a:solidFill>
                <a:latin typeface="Aptos"/>
              </a:defRPr>
            </a:pPr>
            <a:r>
              <a:t>Review assigned complaints, update status, and add remarks.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82296" cy="1828800"/>
          </a:xfrm>
          <a:prstGeom prst="rect">
            <a:avLst/>
          </a:prstGeom>
          <a:solidFill>
            <a:srgbClr val="F59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536192"/>
            <a:ext cx="315468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32240"/>
                </a:solidFill>
                <a:latin typeface="Aptos"/>
              </a:defRPr>
            </a:pPr>
            <a:r>
              <a:t>Administrator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93392"/>
            <a:ext cx="3154680" cy="10972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500" b="0">
                <a:solidFill>
                  <a:srgbClr val="637185"/>
                </a:solidFill>
                <a:latin typeface="Aptos"/>
              </a:defRPr>
            </a:pPr>
            <a:r>
              <a:t>Manage users, categories, priorities, and overall performance.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94760"/>
            <a:ext cx="2743200" cy="3657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2000" b="1">
                <a:solidFill>
                  <a:srgbClr val="132240"/>
                </a:solidFill>
                <a:latin typeface="Aptos"/>
              </a:defRPr>
            </a:pPr>
            <a:r>
              <a:t>Core objectives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51960"/>
            <a:ext cx="10424160" cy="1920240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B3648"/>
                </a:solidFill>
                <a:latin typeface="Aptos"/>
              </a:defRPr>
            </a:pPr>
            <a:r>
              <a:t>•  Provide a simple and mobile-friendly complaint form</a:t>
            </a:r>
          </a:p>
          <a:p>
            <a:pPr>
              <a:spcAft>
                <a:spcPts val="700"/>
              </a:spcAft>
              <a:defRPr sz="1700">
                <a:solidFill>
                  <a:srgbClr val="2B3648"/>
                </a:solidFill>
                <a:latin typeface="Aptos"/>
              </a:defRPr>
            </a:pPr>
            <a:r>
              <a:t>•  Enable transparent tracking from submission to closure</a:t>
            </a:r>
          </a:p>
          <a:p>
            <a:pPr>
              <a:spcAft>
                <a:spcPts val="700"/>
              </a:spcAft>
              <a:defRPr sz="1700">
                <a:solidFill>
                  <a:srgbClr val="2B3648"/>
                </a:solidFill>
                <a:latin typeface="Aptos"/>
              </a:defRPr>
            </a:pPr>
            <a:r>
              <a:t>•  Help staff prioritize urgent issues and reduce response delays</a:t>
            </a:r>
          </a:p>
          <a:p>
            <a:pPr>
              <a:spcAft>
                <a:spcPts val="700"/>
              </a:spcAft>
              <a:defRPr sz="1700">
                <a:solidFill>
                  <a:srgbClr val="2B3648"/>
                </a:solidFill>
                <a:latin typeface="Aptos"/>
              </a:defRPr>
            </a:pPr>
            <a:r>
              <a:t>•  Maintain a searchable history for reporting and improvement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2700" b="1">
                <a:solidFill>
                  <a:srgbClr val="132240"/>
                </a:solidFill>
                <a:latin typeface="Aptos"/>
              </a:defRPr>
            </a:pPr>
            <a:r>
              <a:t>Technology Stack — MERN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777240" cy="54864"/>
          </a:xfrm>
          <a:prstGeom prst="rect">
            <a:avLst/>
          </a:prstGeom>
          <a:solidFill>
            <a:srgbClr val="18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502920" cy="3657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defRPr sz="1300" b="1">
                <a:solidFill>
                  <a:srgbClr val="63718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65176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17319" y="1737360"/>
            <a:ext cx="914400" cy="914400"/>
          </a:xfrm>
          <a:prstGeom prst="ellipse">
            <a:avLst/>
          </a:prstGeom>
          <a:solidFill>
            <a:srgbClr val="2C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19" y="1901952"/>
            <a:ext cx="914400" cy="4114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2377440" cy="4114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900" b="1">
                <a:solidFill>
                  <a:srgbClr val="132240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520439"/>
            <a:ext cx="2286000" cy="9144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500" b="0">
                <a:solidFill>
                  <a:srgbClr val="637185"/>
                </a:solidFill>
                <a:latin typeface="Aptos"/>
              </a:defRPr>
            </a:pPr>
            <a:r>
              <a:t>Stores users, complaints,</a:t>
            </a:r>
            <a:br/>
            <a:r>
              <a:t>comments, and status history.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65176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97680" y="1737360"/>
            <a:ext cx="914400" cy="914400"/>
          </a:xfrm>
          <a:prstGeom prst="ellipse">
            <a:avLst/>
          </a:prstGeom>
          <a:solidFill>
            <a:srgbClr val="2A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901952"/>
            <a:ext cx="914400" cy="4114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926080"/>
            <a:ext cx="2377440" cy="4114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900" b="1">
                <a:solidFill>
                  <a:srgbClr val="132240"/>
                </a:solidFill>
                <a:latin typeface="Aptos"/>
              </a:defRPr>
            </a:pPr>
            <a:r>
              <a:t>Express.js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520439"/>
            <a:ext cx="2286000" cy="9144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500" b="0">
                <a:solidFill>
                  <a:srgbClr val="637185"/>
                </a:solidFill>
                <a:latin typeface="Aptos"/>
              </a:defRPr>
            </a:pPr>
            <a:r>
              <a:t>Builds REST API routes and</a:t>
            </a:r>
            <a:br/>
            <a:r>
              <a:t>handles server-side requests.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417320"/>
            <a:ext cx="265176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78040" y="1737360"/>
            <a:ext cx="914400" cy="914400"/>
          </a:xfrm>
          <a:prstGeom prst="ellipse">
            <a:avLst/>
          </a:prstGeom>
          <a:solidFill>
            <a:srgbClr val="18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1901952"/>
            <a:ext cx="914400" cy="4114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926080"/>
            <a:ext cx="2377440" cy="4114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900" b="1">
                <a:solidFill>
                  <a:srgbClr val="132240"/>
                </a:solidFill>
                <a:latin typeface="Aptos"/>
              </a:defRPr>
            </a:pPr>
            <a:r>
              <a:t>React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520439"/>
            <a:ext cx="2286000" cy="9144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500" b="0">
                <a:solidFill>
                  <a:srgbClr val="637185"/>
                </a:solidFill>
                <a:latin typeface="Aptos"/>
              </a:defRPr>
            </a:pPr>
            <a:r>
              <a:t>Creates the student portal,</a:t>
            </a:r>
            <a:br/>
            <a:r>
              <a:t>staff dashboard, and tracking UI.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1417320"/>
            <a:ext cx="22402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58400" y="1737360"/>
            <a:ext cx="914400" cy="914400"/>
          </a:xfrm>
          <a:prstGeom prst="ellipse">
            <a:avLst/>
          </a:prstGeom>
          <a:solidFill>
            <a:srgbClr val="F59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1901952"/>
            <a:ext cx="914400" cy="4114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926080"/>
            <a:ext cx="1965960" cy="4114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900" b="1">
                <a:solidFill>
                  <a:srgbClr val="132240"/>
                </a:solidFill>
                <a:latin typeface="Aptos"/>
              </a:defRPr>
            </a:pPr>
            <a:r>
              <a:t>Node.js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3520439"/>
            <a:ext cx="1874520" cy="9144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500" b="0">
                <a:solidFill>
                  <a:srgbClr val="637185"/>
                </a:solidFill>
                <a:latin typeface="Aptos"/>
              </a:defRPr>
            </a:pPr>
            <a:r>
              <a:t>Runs the backend JavaScript</a:t>
            </a:r>
            <a:br/>
            <a:r>
              <a:t>server and application logic.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03520"/>
            <a:ext cx="10515600" cy="5029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600" b="1">
                <a:solidFill>
                  <a:srgbClr val="132240"/>
                </a:solidFill>
                <a:latin typeface="Aptos"/>
              </a:defRPr>
            </a:pPr>
            <a:r>
              <a:t>Supporting tools: JWT authentication • bcrypt password hashing • REST API • Git/GitHub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2700" b="1">
                <a:solidFill>
                  <a:srgbClr val="132240"/>
                </a:solidFill>
                <a:latin typeface="Aptos"/>
              </a:defRPr>
            </a:pPr>
            <a:r>
              <a:t>System Workflow &amp;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777240" cy="54864"/>
          </a:xfrm>
          <a:prstGeom prst="rect">
            <a:avLst/>
          </a:prstGeom>
          <a:solidFill>
            <a:srgbClr val="18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502920" cy="3657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defRPr sz="1300" b="1">
                <a:solidFill>
                  <a:srgbClr val="63718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057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A6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1874519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500" b="1">
                <a:solidFill>
                  <a:srgbClr val="132240"/>
                </a:solidFill>
                <a:latin typeface="Aptos"/>
              </a:defRPr>
            </a:pPr>
            <a:r>
              <a:t>1. Student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23160"/>
            <a:ext cx="1874519" cy="4114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200" b="0">
                <a:solidFill>
                  <a:srgbClr val="637185"/>
                </a:solidFill>
                <a:latin typeface="Aptos"/>
              </a:defRPr>
            </a:pPr>
            <a:r>
              <a:t>Logs in and submits</a:t>
            </a:r>
            <a:br/>
            <a:r>
              <a:t>complaint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1920240"/>
            <a:ext cx="2057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8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2057400"/>
            <a:ext cx="1874519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500" b="1">
                <a:solidFill>
                  <a:srgbClr val="132240"/>
                </a:solidFill>
                <a:latin typeface="Aptos"/>
              </a:defRPr>
            </a:pPr>
            <a:r>
              <a:t>2. React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423160"/>
            <a:ext cx="1874519" cy="4114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200" b="0">
                <a:solidFill>
                  <a:srgbClr val="637185"/>
                </a:solidFill>
                <a:latin typeface="Aptos"/>
              </a:defRPr>
            </a:pPr>
            <a:r>
              <a:t>Sends request to</a:t>
            </a:r>
            <a:br/>
            <a:r>
              <a:t>backend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1920240"/>
            <a:ext cx="2057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F59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59" y="2057400"/>
            <a:ext cx="1874519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500" b="1">
                <a:solidFill>
                  <a:srgbClr val="132240"/>
                </a:solidFill>
                <a:latin typeface="Aptos"/>
              </a:defRPr>
            </a:pPr>
            <a:r>
              <a:t>3. Express + Node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59" y="2423160"/>
            <a:ext cx="1874519" cy="4114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200" b="0">
                <a:solidFill>
                  <a:srgbClr val="637185"/>
                </a:solidFill>
                <a:latin typeface="Aptos"/>
              </a:defRPr>
            </a:pPr>
            <a:r>
              <a:t>Validates data and</a:t>
            </a:r>
            <a:br/>
            <a:r>
              <a:t>applies permissions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920240"/>
            <a:ext cx="2057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CA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2057400"/>
            <a:ext cx="1874519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500" b="1">
                <a:solidFill>
                  <a:srgbClr val="132240"/>
                </a:solidFill>
                <a:latin typeface="Aptos"/>
              </a:defRPr>
            </a:pPr>
            <a:r>
              <a:t>4. MongoDB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423160"/>
            <a:ext cx="1874519" cy="4114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200" b="0">
                <a:solidFill>
                  <a:srgbClr val="637185"/>
                </a:solidFill>
                <a:latin typeface="Aptos"/>
              </a:defRPr>
            </a:pPr>
            <a:r>
              <a:t>Stores complaint and</a:t>
            </a:r>
            <a:br/>
            <a:r>
              <a:t>status history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679192" y="2267712"/>
            <a:ext cx="292608" cy="320040"/>
          </a:xfrm>
          <a:prstGeom prst="rightArrow">
            <a:avLst/>
          </a:prstGeom>
          <a:solidFill>
            <a:srgbClr val="2A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5148072" y="2267712"/>
            <a:ext cx="292608" cy="320040"/>
          </a:xfrm>
          <a:prstGeom prst="rightArrow">
            <a:avLst/>
          </a:prstGeom>
          <a:solidFill>
            <a:srgbClr val="2A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7616952" y="2267712"/>
            <a:ext cx="292608" cy="320040"/>
          </a:xfrm>
          <a:prstGeom prst="rightArrow">
            <a:avLst/>
          </a:prstGeom>
          <a:solidFill>
            <a:srgbClr val="2A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703320"/>
            <a:ext cx="10332720" cy="4114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800" b="1">
                <a:solidFill>
                  <a:srgbClr val="132240"/>
                </a:solidFill>
                <a:latin typeface="Aptos"/>
              </a:defRPr>
            </a:pPr>
            <a:r>
              <a:t>Status updates flow back through the API to the student tracking page.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389120"/>
            <a:ext cx="3154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4389120"/>
            <a:ext cx="82296" cy="1143000"/>
          </a:xfrm>
          <a:prstGeom prst="rect">
            <a:avLst/>
          </a:prstGeom>
          <a:solidFill>
            <a:srgbClr val="2A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4553712"/>
            <a:ext cx="278892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32240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010912"/>
            <a:ext cx="2788920" cy="411479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300" b="0">
                <a:solidFill>
                  <a:srgbClr val="637185"/>
                </a:solidFill>
                <a:latin typeface="Aptos"/>
              </a:defRPr>
            </a:pPr>
            <a:r>
              <a:t>JWT tokens protect private routes.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4389120"/>
            <a:ext cx="3154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26280" y="4389120"/>
            <a:ext cx="82296" cy="1143000"/>
          </a:xfrm>
          <a:prstGeom prst="rect">
            <a:avLst/>
          </a:prstGeom>
          <a:solidFill>
            <a:srgbClr val="18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27448" y="4553712"/>
            <a:ext cx="278892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32240"/>
                </a:solidFill>
                <a:latin typeface="Aptos"/>
              </a:defRPr>
            </a:pPr>
            <a:r>
              <a:t>Authorization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27448" y="5010912"/>
            <a:ext cx="2788920" cy="411479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300" b="0">
                <a:solidFill>
                  <a:srgbClr val="637185"/>
                </a:solidFill>
                <a:latin typeface="Aptos"/>
              </a:defRPr>
            </a:pPr>
            <a:r>
              <a:t>Roles limit who can edit each complaint.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4389120"/>
            <a:ext cx="3154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4389120"/>
            <a:ext cx="82296" cy="1143000"/>
          </a:xfrm>
          <a:prstGeom prst="rect">
            <a:avLst/>
          </a:prstGeom>
          <a:solidFill>
            <a:srgbClr val="F59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8" y="4553712"/>
            <a:ext cx="278892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32240"/>
                </a:solidFill>
                <a:latin typeface="Aptos"/>
              </a:defRPr>
            </a:pPr>
            <a:r>
              <a:t>Notifications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8" y="5010912"/>
            <a:ext cx="2788920" cy="411479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300" b="0">
                <a:solidFill>
                  <a:srgbClr val="637185"/>
                </a:solidFill>
                <a:latin typeface="Aptos"/>
              </a:defRPr>
            </a:pPr>
            <a:r>
              <a:t>Email or in-app alerts can announce changes.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2700" b="1">
                <a:solidFill>
                  <a:srgbClr val="132240"/>
                </a:solidFill>
                <a:latin typeface="Aptos"/>
              </a:defRPr>
            </a:pPr>
            <a:r>
              <a:t>Main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777240" cy="54864"/>
          </a:xfrm>
          <a:prstGeom prst="rect">
            <a:avLst/>
          </a:prstGeom>
          <a:solidFill>
            <a:srgbClr val="18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502920" cy="3657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defRPr sz="1300" b="1">
                <a:solidFill>
                  <a:srgbClr val="637185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82296" cy="1600200"/>
          </a:xfrm>
          <a:prstGeom prst="rect">
            <a:avLst/>
          </a:prstGeom>
          <a:solidFill>
            <a:srgbClr val="2A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90472"/>
            <a:ext cx="310896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32240"/>
                </a:solidFill>
                <a:latin typeface="Aptos"/>
              </a:defRPr>
            </a:pPr>
            <a:r>
              <a:t>Submit complaint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47672"/>
            <a:ext cx="3108960" cy="8686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400" b="0">
                <a:solidFill>
                  <a:srgbClr val="637185"/>
                </a:solidFill>
                <a:latin typeface="Aptos"/>
              </a:defRPr>
            </a:pPr>
            <a:r>
              <a:t>Category, description, location, priority, optional photo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82296" cy="1600200"/>
          </a:xfrm>
          <a:prstGeom prst="rect">
            <a:avLst/>
          </a:prstGeom>
          <a:solidFill>
            <a:srgbClr val="18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490472"/>
            <a:ext cx="310896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32240"/>
                </a:solidFill>
                <a:latin typeface="Aptos"/>
              </a:defRPr>
            </a:pPr>
            <a:r>
              <a:t>Track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947672"/>
            <a:ext cx="3108960" cy="8686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400" b="0">
                <a:solidFill>
                  <a:srgbClr val="637185"/>
                </a:solidFill>
                <a:latin typeface="Aptos"/>
              </a:defRPr>
            </a:pPr>
            <a:r>
              <a:t>Unique ID and timeline: Submitted → In Progress → Resolved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82296" cy="1600200"/>
          </a:xfrm>
          <a:prstGeom prst="rect">
            <a:avLst/>
          </a:prstGeom>
          <a:solidFill>
            <a:srgbClr val="F59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490472"/>
            <a:ext cx="310896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32240"/>
                </a:solidFill>
                <a:latin typeface="Aptos"/>
              </a:defRPr>
            </a:pPr>
            <a:r>
              <a:t>Staff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47672"/>
            <a:ext cx="3108960" cy="8686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400" b="0">
                <a:solidFill>
                  <a:srgbClr val="637185"/>
                </a:solidFill>
                <a:latin typeface="Aptos"/>
              </a:defRPr>
            </a:pPr>
            <a:r>
              <a:t>Filter by category, priority, date, and status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33756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337560"/>
            <a:ext cx="82296" cy="1600200"/>
          </a:xfrm>
          <a:prstGeom prst="rect">
            <a:avLst/>
          </a:prstGeom>
          <a:solidFill>
            <a:srgbClr val="2C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502152"/>
            <a:ext cx="310896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32240"/>
                </a:solidFill>
                <a:latin typeface="Aptos"/>
              </a:defRPr>
            </a:pPr>
            <a:r>
              <a:t>Comments &amp; updates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3959352"/>
            <a:ext cx="3108960" cy="8686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400" b="0">
                <a:solidFill>
                  <a:srgbClr val="637185"/>
                </a:solidFill>
                <a:latin typeface="Aptos"/>
              </a:defRPr>
            </a:pPr>
            <a:r>
              <a:t>Clarifications and resolution notes in one thread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33756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3337560"/>
            <a:ext cx="82296" cy="1600200"/>
          </a:xfrm>
          <a:prstGeom prst="rect">
            <a:avLst/>
          </a:prstGeom>
          <a:solidFill>
            <a:srgbClr val="2A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3502152"/>
            <a:ext cx="310896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32240"/>
                </a:solidFill>
                <a:latin typeface="Aptos"/>
              </a:defRPr>
            </a:pPr>
            <a:r>
              <a:t>Admin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3959352"/>
            <a:ext cx="3108960" cy="8686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400" b="0">
                <a:solidFill>
                  <a:srgbClr val="637185"/>
                </a:solidFill>
                <a:latin typeface="Aptos"/>
              </a:defRPr>
            </a:pPr>
            <a:r>
              <a:t>Counts by status, common issues, and resolution 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33756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3337560"/>
            <a:ext cx="82296" cy="1600200"/>
          </a:xfrm>
          <a:prstGeom prst="rect">
            <a:avLst/>
          </a:prstGeom>
          <a:solidFill>
            <a:srgbClr val="18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3502152"/>
            <a:ext cx="310896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32240"/>
                </a:solidFill>
                <a:latin typeface="Aptos"/>
              </a:defRPr>
            </a:pPr>
            <a:r>
              <a:t>Secure access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3959352"/>
            <a:ext cx="3108960" cy="8686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400" b="0">
                <a:solidFill>
                  <a:srgbClr val="637185"/>
                </a:solidFill>
                <a:latin typeface="Aptos"/>
              </a:defRPr>
            </a:pPr>
            <a:r>
              <a:t>Login, role-based access, validation, and protected APIs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2700" b="1">
                <a:solidFill>
                  <a:srgbClr val="132240"/>
                </a:solidFill>
                <a:latin typeface="Aptos"/>
              </a:defRPr>
            </a:pPr>
            <a:r>
              <a:t>Database Design (MongoDB)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777240" cy="54864"/>
          </a:xfrm>
          <a:prstGeom prst="rect">
            <a:avLst/>
          </a:prstGeom>
          <a:solidFill>
            <a:srgbClr val="18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502920" cy="3657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defRPr sz="1300" b="1">
                <a:solidFill>
                  <a:srgbClr val="637185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82296" cy="4297680"/>
          </a:xfrm>
          <a:prstGeom prst="rect">
            <a:avLst/>
          </a:prstGeom>
          <a:solidFill>
            <a:srgbClr val="2A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36192"/>
            <a:ext cx="310896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32240"/>
                </a:solidFill>
                <a:latin typeface="Aptos"/>
              </a:defRPr>
            </a:pPr>
            <a:r>
              <a:t>Users collection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93392"/>
            <a:ext cx="3108960" cy="35661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600" b="0">
                <a:solidFill>
                  <a:srgbClr val="637185"/>
                </a:solidFill>
                <a:latin typeface="Aptos"/>
              </a:defRPr>
            </a:pPr>
            <a:r>
              <a:t>• _id</a:t>
            </a:r>
            <a:br/>
            <a:r>
              <a:t>• name, email</a:t>
            </a:r>
            <a:br/>
            <a:r>
              <a:t>• passwordHash</a:t>
            </a:r>
            <a:br/>
            <a:r>
              <a:t>• role: student / staff / admin</a:t>
            </a:r>
            <a:br/>
            <a:r>
              <a:t>• department (optional)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82296" cy="4297680"/>
          </a:xfrm>
          <a:prstGeom prst="rect">
            <a:avLst/>
          </a:prstGeom>
          <a:solidFill>
            <a:srgbClr val="18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536192"/>
            <a:ext cx="310896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32240"/>
                </a:solidFill>
                <a:latin typeface="Aptos"/>
              </a:defRPr>
            </a:pPr>
            <a:r>
              <a:t>Complaints collection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993392"/>
            <a:ext cx="3108960" cy="35661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600" b="0">
                <a:solidFill>
                  <a:srgbClr val="637185"/>
                </a:solidFill>
                <a:latin typeface="Aptos"/>
              </a:defRPr>
            </a:pPr>
            <a:r>
              <a:t>• _id, complaintId</a:t>
            </a:r>
            <a:br/>
            <a:r>
              <a:t>• title, description</a:t>
            </a:r>
            <a:br/>
            <a:r>
              <a:t>• category, location</a:t>
            </a:r>
            <a:br/>
            <a:r>
              <a:t>• priority, status</a:t>
            </a:r>
            <a:br/>
            <a:r>
              <a:t>• createdBy, assignedTo</a:t>
            </a:r>
            <a:br/>
            <a:r>
              <a:t>• createdAt, updatedAt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82296" cy="4297680"/>
          </a:xfrm>
          <a:prstGeom prst="rect">
            <a:avLst/>
          </a:prstGeom>
          <a:solidFill>
            <a:srgbClr val="F59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536192"/>
            <a:ext cx="310896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32240"/>
                </a:solidFill>
                <a:latin typeface="Aptos"/>
              </a:defRPr>
            </a:pPr>
            <a:r>
              <a:t>Comments /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93392"/>
            <a:ext cx="3108960" cy="35661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500" b="0">
                <a:solidFill>
                  <a:srgbClr val="637185"/>
                </a:solidFill>
                <a:latin typeface="Aptos"/>
              </a:defRPr>
            </a:pPr>
            <a:r>
              <a:t>• complaintId</a:t>
            </a:r>
            <a:br/>
            <a:r>
              <a:t>• authorId</a:t>
            </a:r>
            <a:br/>
            <a:r>
              <a:t>• message / status change</a:t>
            </a:r>
            <a:br/>
            <a:r>
              <a:t>• timestamp</a:t>
            </a:r>
            <a:br/>
            <a:r>
              <a:t>• attachment URL (optional)</a:t>
            </a:r>
            <a:br/>
            <a:br/>
            <a:r>
              <a:t>Each complaint links to its creator and assigned staff.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897880"/>
            <a:ext cx="1060704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600" b="1">
                <a:solidFill>
                  <a:srgbClr val="132240"/>
                </a:solidFill>
                <a:latin typeface="Aptos"/>
              </a:defRPr>
            </a:pPr>
            <a:r>
              <a:t>Use indexes on complaintId, status, category, and createdAt for faster filtering.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2700" b="1">
                <a:solidFill>
                  <a:srgbClr val="132240"/>
                </a:solidFill>
                <a:latin typeface="Aptos"/>
              </a:defRPr>
            </a:pPr>
            <a:r>
              <a:t>Benefits, Future Scope &amp;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777240" cy="54864"/>
          </a:xfrm>
          <a:prstGeom prst="rect">
            <a:avLst/>
          </a:prstGeom>
          <a:solidFill>
            <a:srgbClr val="18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502920" cy="3657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defRPr sz="1300" b="1">
                <a:solidFill>
                  <a:srgbClr val="637185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257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82296" cy="3566160"/>
          </a:xfrm>
          <a:prstGeom prst="rect">
            <a:avLst/>
          </a:prstGeom>
          <a:solidFill>
            <a:srgbClr val="2C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90472"/>
            <a:ext cx="489204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32240"/>
                </a:solidFill>
                <a:latin typeface="Aptos"/>
              </a:defRPr>
            </a:pPr>
            <a:r>
              <a:t>Expected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47672"/>
            <a:ext cx="4892040" cy="2834639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600" b="0">
                <a:solidFill>
                  <a:srgbClr val="637185"/>
                </a:solidFill>
                <a:latin typeface="Aptos"/>
              </a:defRPr>
            </a:pPr>
            <a:r>
              <a:t>• Faster and more organized issue reporting</a:t>
            </a:r>
            <a:br/>
            <a:br/>
            <a:r>
              <a:t>• Better transparency and accountability</a:t>
            </a:r>
            <a:br/>
            <a:br/>
            <a:r>
              <a:t>• Less paperwork and fewer missed requests</a:t>
            </a:r>
            <a:br/>
            <a:br/>
            <a:r>
              <a:t>• Data to identify recurring campus problems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257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82296" cy="3566160"/>
          </a:xfrm>
          <a:prstGeom prst="rect">
            <a:avLst/>
          </a:prstGeom>
          <a:solidFill>
            <a:srgbClr val="2A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490472"/>
            <a:ext cx="489204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32240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1947672"/>
            <a:ext cx="4892040" cy="2834639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600" b="0">
                <a:solidFill>
                  <a:srgbClr val="637185"/>
                </a:solidFill>
                <a:latin typeface="Aptos"/>
              </a:defRPr>
            </a:pPr>
            <a:r>
              <a:t>• Email / SMS / push notifications</a:t>
            </a:r>
            <a:br/>
            <a:br/>
            <a:r>
              <a:t>• Image uploads and location pinning</a:t>
            </a:r>
            <a:br/>
            <a:br/>
            <a:r>
              <a:t>• Satisfaction ratings after resolution</a:t>
            </a:r>
            <a:br/>
            <a:br/>
            <a:r>
              <a:t>• SLA reminders and escalation rules</a:t>
            </a:r>
            <a:br/>
            <a:br/>
            <a:r>
              <a:t>• Mobile app and multilingual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57800"/>
            <a:ext cx="146304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2000" b="1">
                <a:solidFill>
                  <a:srgbClr val="132240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5193792"/>
            <a:ext cx="8961120" cy="7772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0">
                <a:solidFill>
                  <a:srgbClr val="2B3648"/>
                </a:solidFill>
                <a:latin typeface="Aptos"/>
              </a:defRPr>
            </a:pPr>
            <a:r>
              <a:t>A MERN-based complaint system gives students one reliable place to report campus issues and follow each complaint until it is resolved.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72200"/>
            <a:ext cx="182880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400" b="1">
                <a:solidFill>
                  <a:srgbClr val="18AAA0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